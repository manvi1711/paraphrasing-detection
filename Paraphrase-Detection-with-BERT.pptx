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Calibri" pitchFamily="34" charset="0"/>
      <p:regular r:id="rId11"/>
      <p:bold r:id="rId12"/>
      <p:italic r:id="rId13"/>
      <p:boldItalic r:id="rId14"/>
    </p:embeddedFont>
    <p:embeddedFont>
      <p:font typeface="Lato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-612" y="-84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6401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Paraphrase Detection with BERT: A Deep Dive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32173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Discover paraphrase detection and its key role in understanding language.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93978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Explore BERT’s impact on NLP and Microsoft’s MRPC dataset from Hugging Face.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29064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1390" y="2795945"/>
            <a:ext cx="7593330" cy="572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Understanding Paraphrase Detection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641390" y="3643432"/>
            <a:ext cx="6582251" cy="1770221"/>
          </a:xfrm>
          <a:prstGeom prst="roundRect">
            <a:avLst>
              <a:gd name="adj" fmla="val 1553"/>
            </a:avLst>
          </a:prstGeom>
          <a:solidFill>
            <a:srgbClr val="E5DFD2"/>
          </a:solidFill>
          <a:ln/>
        </p:spPr>
      </p:sp>
      <p:sp>
        <p:nvSpPr>
          <p:cNvPr id="5" name="Text 2"/>
          <p:cNvSpPr/>
          <p:nvPr/>
        </p:nvSpPr>
        <p:spPr>
          <a:xfrm>
            <a:off x="824627" y="3826669"/>
            <a:ext cx="2290643" cy="286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Definition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24627" y="4222909"/>
            <a:ext cx="6215777" cy="293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Determining if two sentences express the same meaning.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406878" y="3643432"/>
            <a:ext cx="7223522" cy="1770221"/>
          </a:xfrm>
          <a:prstGeom prst="roundRect">
            <a:avLst>
              <a:gd name="adj" fmla="val 1553"/>
            </a:avLst>
          </a:prstGeom>
          <a:solidFill>
            <a:srgbClr val="E5DFD2"/>
          </a:solidFill>
          <a:ln/>
        </p:spPr>
      </p:sp>
      <p:sp>
        <p:nvSpPr>
          <p:cNvPr id="8" name="Text 5"/>
          <p:cNvSpPr/>
          <p:nvPr/>
        </p:nvSpPr>
        <p:spPr>
          <a:xfrm>
            <a:off x="7590115" y="3826669"/>
            <a:ext cx="2290643" cy="286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Applications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590115" y="4222909"/>
            <a:ext cx="6215777" cy="293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Question answering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590115" y="4580096"/>
            <a:ext cx="6215777" cy="293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Plagiarism detection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590115" y="4937284"/>
            <a:ext cx="6215777" cy="293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Content summarization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1390" y="5596890"/>
            <a:ext cx="6582251" cy="2632710"/>
          </a:xfrm>
          <a:prstGeom prst="roundRect">
            <a:avLst>
              <a:gd name="adj" fmla="val 1292"/>
            </a:avLst>
          </a:prstGeom>
          <a:solidFill>
            <a:srgbClr val="E5DFD2"/>
          </a:solidFill>
          <a:ln/>
        </p:spPr>
      </p:sp>
      <p:sp>
        <p:nvSpPr>
          <p:cNvPr id="13" name="Text 10"/>
          <p:cNvSpPr/>
          <p:nvPr/>
        </p:nvSpPr>
        <p:spPr>
          <a:xfrm>
            <a:off x="824627" y="5780127"/>
            <a:ext cx="2290643" cy="286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Challenges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24627" y="6176367"/>
            <a:ext cx="6215777" cy="293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Semantic similarity versus word overlap and context understanding.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406878" y="5596890"/>
            <a:ext cx="7223522" cy="2632710"/>
          </a:xfrm>
          <a:prstGeom prst="roundRect">
            <a:avLst>
              <a:gd name="adj" fmla="val 1292"/>
            </a:avLst>
          </a:prstGeom>
          <a:solidFill>
            <a:srgbClr val="E5DFD2"/>
          </a:solidFill>
          <a:ln/>
        </p:spPr>
      </p:sp>
      <p:sp>
        <p:nvSpPr>
          <p:cNvPr id="16" name="Text 13"/>
          <p:cNvSpPr/>
          <p:nvPr/>
        </p:nvSpPr>
        <p:spPr>
          <a:xfrm>
            <a:off x="7590115" y="5780127"/>
            <a:ext cx="2290643" cy="286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Metrics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590115" y="6176367"/>
            <a:ext cx="6215777" cy="293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Accuracy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590115" y="6533555"/>
            <a:ext cx="6215777" cy="293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590115" y="6890742"/>
            <a:ext cx="6215777" cy="293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Recall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590115" y="7247930"/>
            <a:ext cx="6215777" cy="293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F1-score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14976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Introducing BERT: Bidirectional Encoder Representations from Transformers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47269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</p:sp>
      <p:sp>
        <p:nvSpPr>
          <p:cNvPr id="4" name="Text 2"/>
          <p:cNvSpPr/>
          <p:nvPr/>
        </p:nvSpPr>
        <p:spPr>
          <a:xfrm>
            <a:off x="1530906" y="3550563"/>
            <a:ext cx="32518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Transformer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30906" y="4040981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Uses attention and parallel processing for language modeling.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57003" y="347269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</p:sp>
      <p:sp>
        <p:nvSpPr>
          <p:cNvPr id="7" name="Text 5"/>
          <p:cNvSpPr/>
          <p:nvPr/>
        </p:nvSpPr>
        <p:spPr>
          <a:xfrm>
            <a:off x="8194119" y="35505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Bidirectional Training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194119" y="4040981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Processes context from both left and right of a word.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522041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</p:sp>
      <p:sp>
        <p:nvSpPr>
          <p:cNvPr id="10" name="Text 8"/>
          <p:cNvSpPr/>
          <p:nvPr/>
        </p:nvSpPr>
        <p:spPr>
          <a:xfrm>
            <a:off x="1530906" y="5298281"/>
            <a:ext cx="33164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Pre-training &amp; Fine-tuning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30906" y="5788700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Builds on large corpora, then specializes on specific tasks.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57003" y="522041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</p:sp>
      <p:sp>
        <p:nvSpPr>
          <p:cNvPr id="13" name="Text 11"/>
          <p:cNvSpPr/>
          <p:nvPr/>
        </p:nvSpPr>
        <p:spPr>
          <a:xfrm>
            <a:off x="8194119" y="52982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Strengths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194119" y="5788700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Captures subtle meanings and manages context effectively.</a:t>
            </a:r>
            <a:endParaRPr lang="en-US" sz="1750" dirty="0"/>
          </a:p>
        </p:txBody>
      </p:sp>
      <p:pic>
        <p:nvPicPr>
          <p:cNvPr id="15" name="Picture 14" descr="Screenshot 2025-04-29 1248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9710" y="7724704"/>
            <a:ext cx="1953297" cy="5048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21412"/>
            <a:ext cx="1301924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The Microsoft Research Paraphrase Corpus (MRPC)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Dataset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78310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Labeled sentence pairs for paraphrase detection tasks.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4200406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Statistics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200406" y="4578310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5,801 pairs, 76% show paraphrase relation.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607022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Features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07022" y="4578310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Real-world examples with varied sentence types.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1013638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Accessibility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013638" y="4578310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Available easily on Hugging Face’s datasets library.</a:t>
            </a:r>
            <a:endParaRPr lang="en-US" sz="1750" dirty="0"/>
          </a:p>
        </p:txBody>
      </p:sp>
      <p:pic>
        <p:nvPicPr>
          <p:cNvPr id="11" name="Picture 10" descr="Screenshot 2025-04-29 1248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9710" y="7724704"/>
            <a:ext cx="1953297" cy="5048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1999" y="591264"/>
            <a:ext cx="13126402" cy="1343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Implementing Paraphrase Detection with BERT and MRPC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51999" y="2363986"/>
            <a:ext cx="1640800" cy="1238012"/>
          </a:xfrm>
          <a:prstGeom prst="roundRect">
            <a:avLst>
              <a:gd name="adj" fmla="val 2604"/>
            </a:avLst>
          </a:prstGeom>
          <a:solidFill>
            <a:srgbClr val="E5DFD2"/>
          </a:solidFill>
          <a:ln/>
        </p:spPr>
      </p:sp>
      <p:sp>
        <p:nvSpPr>
          <p:cNvPr id="4" name="Text 2"/>
          <p:cNvSpPr/>
          <p:nvPr/>
        </p:nvSpPr>
        <p:spPr>
          <a:xfrm>
            <a:off x="1421249" y="2794159"/>
            <a:ext cx="302181" cy="377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2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2607588" y="2578775"/>
            <a:ext cx="2686050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Environment Setup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607588" y="3043357"/>
            <a:ext cx="5317688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Install Python, Transformers, and PyTorch or TensorFlow.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2500193" y="3586758"/>
            <a:ext cx="11270813" cy="15240"/>
          </a:xfrm>
          <a:prstGeom prst="roundRect">
            <a:avLst>
              <a:gd name="adj" fmla="val 211505"/>
            </a:avLst>
          </a:prstGeom>
          <a:solidFill>
            <a:srgbClr val="CBC5B8"/>
          </a:solidFill>
          <a:ln/>
        </p:spPr>
      </p:sp>
      <p:sp>
        <p:nvSpPr>
          <p:cNvPr id="8" name="Shape 6"/>
          <p:cNvSpPr/>
          <p:nvPr/>
        </p:nvSpPr>
        <p:spPr>
          <a:xfrm>
            <a:off x="751999" y="3709392"/>
            <a:ext cx="3281601" cy="1238012"/>
          </a:xfrm>
          <a:prstGeom prst="roundRect">
            <a:avLst>
              <a:gd name="adj" fmla="val 2604"/>
            </a:avLst>
          </a:prstGeom>
          <a:solidFill>
            <a:srgbClr val="E5DFD2"/>
          </a:solidFill>
          <a:ln/>
        </p:spPr>
      </p:sp>
      <p:sp>
        <p:nvSpPr>
          <p:cNvPr id="9" name="Text 7"/>
          <p:cNvSpPr/>
          <p:nvPr/>
        </p:nvSpPr>
        <p:spPr>
          <a:xfrm>
            <a:off x="2241709" y="4139565"/>
            <a:ext cx="302181" cy="377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2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2</a:t>
            </a:r>
            <a:endParaRPr lang="en-US" sz="2350" dirty="0"/>
          </a:p>
        </p:txBody>
      </p:sp>
      <p:sp>
        <p:nvSpPr>
          <p:cNvPr id="10" name="Text 8"/>
          <p:cNvSpPr/>
          <p:nvPr/>
        </p:nvSpPr>
        <p:spPr>
          <a:xfrm>
            <a:off x="4248388" y="3924181"/>
            <a:ext cx="2686050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Data Preprocessing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248388" y="4388763"/>
            <a:ext cx="4721662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Tokenize and format inputs for BERT compatibility.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4140994" y="4932164"/>
            <a:ext cx="9630013" cy="15240"/>
          </a:xfrm>
          <a:prstGeom prst="roundRect">
            <a:avLst>
              <a:gd name="adj" fmla="val 211505"/>
            </a:avLst>
          </a:prstGeom>
          <a:solidFill>
            <a:srgbClr val="CBC5B8"/>
          </a:solidFill>
          <a:ln/>
        </p:spPr>
      </p:sp>
      <p:sp>
        <p:nvSpPr>
          <p:cNvPr id="13" name="Shape 11"/>
          <p:cNvSpPr/>
          <p:nvPr/>
        </p:nvSpPr>
        <p:spPr>
          <a:xfrm>
            <a:off x="751999" y="5054798"/>
            <a:ext cx="4922401" cy="1238012"/>
          </a:xfrm>
          <a:prstGeom prst="roundRect">
            <a:avLst>
              <a:gd name="adj" fmla="val 2604"/>
            </a:avLst>
          </a:prstGeom>
          <a:solidFill>
            <a:srgbClr val="E5DFD2"/>
          </a:solidFill>
          <a:ln/>
        </p:spPr>
      </p:sp>
      <p:sp>
        <p:nvSpPr>
          <p:cNvPr id="14" name="Text 12"/>
          <p:cNvSpPr/>
          <p:nvPr/>
        </p:nvSpPr>
        <p:spPr>
          <a:xfrm>
            <a:off x="3062049" y="5484971"/>
            <a:ext cx="302181" cy="377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2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3</a:t>
            </a:r>
            <a:endParaRPr lang="en-US" sz="2350" dirty="0"/>
          </a:p>
        </p:txBody>
      </p:sp>
      <p:sp>
        <p:nvSpPr>
          <p:cNvPr id="15" name="Text 13"/>
          <p:cNvSpPr/>
          <p:nvPr/>
        </p:nvSpPr>
        <p:spPr>
          <a:xfrm>
            <a:off x="5889188" y="5269587"/>
            <a:ext cx="2686050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Model Fine-tuning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5889188" y="5734169"/>
            <a:ext cx="5476637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Train BERT on the MRPC dataset for paraphrase detection.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5781794" y="6277570"/>
            <a:ext cx="7989213" cy="15240"/>
          </a:xfrm>
          <a:prstGeom prst="roundRect">
            <a:avLst>
              <a:gd name="adj" fmla="val 211505"/>
            </a:avLst>
          </a:prstGeom>
          <a:solidFill>
            <a:srgbClr val="CBC5B8"/>
          </a:solidFill>
          <a:ln/>
        </p:spPr>
      </p:sp>
      <p:sp>
        <p:nvSpPr>
          <p:cNvPr id="18" name="Shape 16"/>
          <p:cNvSpPr/>
          <p:nvPr/>
        </p:nvSpPr>
        <p:spPr>
          <a:xfrm>
            <a:off x="751999" y="6400205"/>
            <a:ext cx="6563201" cy="1238012"/>
          </a:xfrm>
          <a:prstGeom prst="roundRect">
            <a:avLst>
              <a:gd name="adj" fmla="val 2604"/>
            </a:avLst>
          </a:prstGeom>
          <a:solidFill>
            <a:srgbClr val="E5DFD2"/>
          </a:solidFill>
          <a:ln/>
        </p:spPr>
      </p:sp>
      <p:sp>
        <p:nvSpPr>
          <p:cNvPr id="19" name="Text 17"/>
          <p:cNvSpPr/>
          <p:nvPr/>
        </p:nvSpPr>
        <p:spPr>
          <a:xfrm>
            <a:off x="3882509" y="6830378"/>
            <a:ext cx="302181" cy="377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2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4</a:t>
            </a:r>
            <a:endParaRPr lang="en-US" sz="2350" dirty="0"/>
          </a:p>
        </p:txBody>
      </p:sp>
      <p:sp>
        <p:nvSpPr>
          <p:cNvPr id="20" name="Text 18"/>
          <p:cNvSpPr/>
          <p:nvPr/>
        </p:nvSpPr>
        <p:spPr>
          <a:xfrm>
            <a:off x="7529989" y="6614993"/>
            <a:ext cx="2686050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Evaluation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7529989" y="7079575"/>
            <a:ext cx="5367099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Test on a held-out dataset to measure accuracy and recall.</a:t>
            </a:r>
            <a:endParaRPr lang="en-US" sz="1650" dirty="0"/>
          </a:p>
        </p:txBody>
      </p:sp>
      <p:pic>
        <p:nvPicPr>
          <p:cNvPr id="22" name="Picture 21" descr="Screenshot 2025-04-29 1248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9710" y="7724704"/>
            <a:ext cx="1953297" cy="5048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4015" y="696635"/>
            <a:ext cx="7755969" cy="123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Code Example: Fine-tuning BERT for Paraphrase Detection</a:t>
            </a:r>
            <a:endParaRPr lang="en-US" sz="39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015" y="2233493"/>
            <a:ext cx="991553" cy="118979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982986" y="2431733"/>
            <a:ext cx="2650331" cy="309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Load Model &amp; Tokenizer</a:t>
            </a:r>
            <a:endParaRPr lang="en-US" sz="19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015" y="3423285"/>
            <a:ext cx="991553" cy="118979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982986" y="3621524"/>
            <a:ext cx="2478881" cy="309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Prepare Dataset</a:t>
            </a:r>
            <a:endParaRPr lang="en-US" sz="19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015" y="4613077"/>
            <a:ext cx="991553" cy="1189792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982986" y="4811316"/>
            <a:ext cx="2640687" cy="309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Set Training Parameters</a:t>
            </a:r>
            <a:endParaRPr lang="en-US" sz="195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015" y="5802868"/>
            <a:ext cx="991553" cy="1189792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1982986" y="6001107"/>
            <a:ext cx="2478881" cy="309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Train &amp; Evaluate</a:t>
            </a:r>
            <a:endParaRPr lang="en-US" sz="1950" dirty="0"/>
          </a:p>
        </p:txBody>
      </p:sp>
      <p:sp>
        <p:nvSpPr>
          <p:cNvPr id="12" name="Text 5"/>
          <p:cNvSpPr/>
          <p:nvPr/>
        </p:nvSpPr>
        <p:spPr>
          <a:xfrm>
            <a:off x="694015" y="7215664"/>
            <a:ext cx="7755969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snippet highlights the essential fine-tuning workflow using Transformers.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2141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Results and Analysis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Performance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78310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High accuracy and F1-score on MRPC test set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4200406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Comparison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200406" y="4578310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BERT surpasses traditional baseline models.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607022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Error Analysis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07022" y="4578310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Common failures found in ambiguous sentence pairs.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1013638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Ablation Studies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013638" y="4578310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Hyperparameter tuning impacts results significantly.</a:t>
            </a:r>
            <a:endParaRPr lang="en-US" sz="1750" dirty="0"/>
          </a:p>
        </p:txBody>
      </p:sp>
      <p:pic>
        <p:nvPicPr>
          <p:cNvPr id="11" name="Picture 10" descr="Screenshot 2025-04-29 1248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9710" y="7724704"/>
            <a:ext cx="1953297" cy="5048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69425"/>
            <a:ext cx="843605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Conclusion and Future Directions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11836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</p:sp>
      <p:sp>
        <p:nvSpPr>
          <p:cNvPr id="4" name="Text 2"/>
          <p:cNvSpPr/>
          <p:nvPr/>
        </p:nvSpPr>
        <p:spPr>
          <a:xfrm>
            <a:off x="1530906" y="31962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BERT’s Effectiveness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30906" y="3686651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Excels at recognizing paraphrases via deep contextual modeling.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57003" y="311836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</p:sp>
      <p:sp>
        <p:nvSpPr>
          <p:cNvPr id="7" name="Text 5"/>
          <p:cNvSpPr/>
          <p:nvPr/>
        </p:nvSpPr>
        <p:spPr>
          <a:xfrm>
            <a:off x="8194119" y="31962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Improvement Areas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194119" y="3686651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Integrate external knowledge, optimize training approaches.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86608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</p:sp>
      <p:sp>
        <p:nvSpPr>
          <p:cNvPr id="10" name="Text 8"/>
          <p:cNvSpPr/>
          <p:nvPr/>
        </p:nvSpPr>
        <p:spPr>
          <a:xfrm>
            <a:off x="1530906" y="49439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Future Research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30906" y="5434370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Explore cross-lingual tasks and new paraphrase datasets.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57003" y="486608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</p:sp>
      <p:sp>
        <p:nvSpPr>
          <p:cNvPr id="13" name="Text 11"/>
          <p:cNvSpPr/>
          <p:nvPr/>
        </p:nvSpPr>
        <p:spPr>
          <a:xfrm>
            <a:off x="8194119" y="49439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194119" y="5434370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Encourage community exploration of BERT and paraphrase detection.</a:t>
            </a:r>
            <a:endParaRPr lang="en-US" sz="1750" dirty="0"/>
          </a:p>
        </p:txBody>
      </p:sp>
      <p:pic>
        <p:nvPicPr>
          <p:cNvPr id="15" name="Picture 14" descr="Screenshot 2025-04-29 1248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9710" y="7724704"/>
            <a:ext cx="1953297" cy="5048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345</Words>
  <Application>Microsoft Office PowerPoint</Application>
  <PresentationFormat>Custom</PresentationFormat>
  <Paragraphs>80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Lato Bold</vt:lpstr>
      <vt:lpstr>Calibri</vt:lpstr>
      <vt:lpstr>Lato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91878</cp:lastModifiedBy>
  <cp:revision>2</cp:revision>
  <dcterms:created xsi:type="dcterms:W3CDTF">2025-04-29T03:28:53Z</dcterms:created>
  <dcterms:modified xsi:type="dcterms:W3CDTF">2025-04-29T07:20:05Z</dcterms:modified>
</cp:coreProperties>
</file>